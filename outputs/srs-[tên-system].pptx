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0"/>
            <a:ext cx="3410712" cy="6858000"/>
          </a:xfrm>
          <a:prstGeom prst="rect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303520"/>
            <a:ext cx="877824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502920"/>
            <a:ext cx="2194560" cy="475488"/>
          </a:xfrm>
          <a:prstGeom prst="rect">
            <a:avLst>
              <a:gd name="adj" fmla="val 15385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0292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⚙️ SRS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</a:rPr>
              <a:t>Software Requirements Specification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[Tên Hệ Thống / Module]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Đặc tả kỹ thuật · Functional &amp; Non-functional · Cho DEV &amp; Tester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5486400"/>
            <a:ext cx="1920240" cy="914400"/>
          </a:xfrm>
          <a:prstGeom prst="rect">
            <a:avLst>
              <a:gd name="adj" fmla="val 6000"/>
            </a:avLst>
          </a:prstGeom>
          <a:solidFill>
            <a:srgbClr val="283593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5532120"/>
            <a:ext cx="1920240" cy="384048"/>
          </a:xfrm>
          <a:prstGeom prst="rect">
            <a:avLst/>
          </a:prstGeom>
          <a:noFill/>
          <a:ln/>
        </p:spPr>
        <p:txBody>
          <a:bodyPr wrap="square" lIns="50800" tIns="76200" rIns="7620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Authors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5916168"/>
            <a:ext cx="1920240" cy="438912"/>
          </a:xfrm>
          <a:prstGeom prst="rect">
            <a:avLst/>
          </a:prstGeom>
          <a:noFill/>
          <a:ln/>
        </p:spPr>
        <p:txBody>
          <a:bodyPr wrap="square" lIns="0" tIns="76200" rIns="76200" bIns="5080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PO + Tech Lead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60320" y="5486400"/>
            <a:ext cx="1920240" cy="914400"/>
          </a:xfrm>
          <a:prstGeom prst="rect">
            <a:avLst>
              <a:gd name="adj" fmla="val 6000"/>
            </a:avLst>
          </a:prstGeom>
          <a:solidFill>
            <a:srgbClr val="283593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5532120"/>
            <a:ext cx="1920240" cy="384048"/>
          </a:xfrm>
          <a:prstGeom prst="rect">
            <a:avLst/>
          </a:prstGeom>
          <a:noFill/>
          <a:ln/>
        </p:spPr>
        <p:txBody>
          <a:bodyPr wrap="square" lIns="50800" tIns="76200" rIns="7620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Audience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560320" y="5916168"/>
            <a:ext cx="1920240" cy="438912"/>
          </a:xfrm>
          <a:prstGeom prst="rect">
            <a:avLst/>
          </a:prstGeom>
          <a:noFill/>
          <a:ln/>
        </p:spPr>
        <p:txBody>
          <a:bodyPr wrap="square" lIns="0" tIns="76200" rIns="76200" bIns="5080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DEV, Tester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5486400"/>
            <a:ext cx="1920240" cy="914400"/>
          </a:xfrm>
          <a:prstGeom prst="rect">
            <a:avLst>
              <a:gd name="adj" fmla="val 6000"/>
            </a:avLst>
          </a:prstGeom>
          <a:solidFill>
            <a:srgbClr val="283593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5532120"/>
            <a:ext cx="1920240" cy="384048"/>
          </a:xfrm>
          <a:prstGeom prst="rect">
            <a:avLst/>
          </a:prstGeom>
          <a:noFill/>
          <a:ln/>
        </p:spPr>
        <p:txBody>
          <a:bodyPr wrap="square" lIns="50800" tIns="76200" rIns="7620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Date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663440" y="5916168"/>
            <a:ext cx="1920240" cy="438912"/>
          </a:xfrm>
          <a:prstGeom prst="rect">
            <a:avLst/>
          </a:prstGeom>
          <a:noFill/>
          <a:ln/>
        </p:spPr>
        <p:txBody>
          <a:bodyPr wrap="square" lIns="0" tIns="76200" rIns="76200" bIns="5080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[Date]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66560" y="5486400"/>
            <a:ext cx="1920240" cy="914400"/>
          </a:xfrm>
          <a:prstGeom prst="rect">
            <a:avLst>
              <a:gd name="adj" fmla="val 6000"/>
            </a:avLst>
          </a:prstGeom>
          <a:solidFill>
            <a:srgbClr val="283593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0" y="5532120"/>
            <a:ext cx="1920240" cy="384048"/>
          </a:xfrm>
          <a:prstGeom prst="rect">
            <a:avLst/>
          </a:prstGeom>
          <a:noFill/>
          <a:ln/>
        </p:spPr>
        <p:txBody>
          <a:bodyPr wrap="square" lIns="50800" tIns="76200" rIns="7620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Version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766560" y="5916168"/>
            <a:ext cx="1920240" cy="438912"/>
          </a:xfrm>
          <a:prstGeom prst="rect">
            <a:avLst/>
          </a:prstGeom>
          <a:noFill/>
          <a:ln/>
        </p:spPr>
        <p:txBody>
          <a:bodyPr wrap="square" lIns="0" tIns="76200" rIns="76200" bIns="5080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v1.0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📋  Mục Lục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1179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C3F7"/>
                </a:solidFill>
              </a:rPr>
              <a:t>SRS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5760720" cy="868680"/>
          </a:xfrm>
          <a:prstGeom prst="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14400"/>
            <a:ext cx="59436" cy="868680"/>
          </a:xfrm>
          <a:prstGeom prst="rect">
            <a:avLst>
              <a:gd name="adj" fmla="val 92308"/>
            </a:avLst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98755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9875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System Overview &amp; Scope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3000" y="129844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Tổng quan hệ thống, glossary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355080" y="914400"/>
            <a:ext cx="5760720" cy="868680"/>
          </a:xfrm>
          <a:prstGeom prst="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55080" y="914400"/>
            <a:ext cx="59436" cy="868680"/>
          </a:xfrm>
          <a:prstGeom prst="rect">
            <a:avLst>
              <a:gd name="adj" fmla="val 92308"/>
            </a:avLst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98755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132320" y="9875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Tech Stack &amp; Architecture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132320" y="129844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Framework, infra, diagram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1901952"/>
            <a:ext cx="5760720" cy="868680"/>
          </a:xfrm>
          <a:prstGeom prst="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1901952"/>
            <a:ext cx="59436" cy="868680"/>
          </a:xfrm>
          <a:prstGeom prst="rect">
            <a:avLst>
              <a:gd name="adj" fmla="val 92308"/>
            </a:avLst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197510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3000" y="197510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Functional Req — Auth &amp; Core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43000" y="2286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Login, auth, core flows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355080" y="1901952"/>
            <a:ext cx="5760720" cy="868680"/>
          </a:xfrm>
          <a:prstGeom prst="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55080" y="1901952"/>
            <a:ext cx="59436" cy="868680"/>
          </a:xfrm>
          <a:prstGeom prst="rect">
            <a:avLst>
              <a:gd name="adj" fmla="val 92308"/>
            </a:avLst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197510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132320" y="197510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Functional Req — Business Logic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132320" y="2286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Domain-specific logic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2889504"/>
            <a:ext cx="5760720" cy="868680"/>
          </a:xfrm>
          <a:prstGeom prst="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2889504"/>
            <a:ext cx="59436" cy="868680"/>
          </a:xfrm>
          <a:prstGeom prst="rect">
            <a:avLst>
              <a:gd name="adj" fmla="val 92308"/>
            </a:avLst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2962656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05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43000" y="296265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Functional Req — Integrations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43000" y="327355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Third-party APIs, webhooks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355080" y="2889504"/>
            <a:ext cx="5760720" cy="868680"/>
          </a:xfrm>
          <a:prstGeom prst="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355080" y="2889504"/>
            <a:ext cx="59436" cy="868680"/>
          </a:xfrm>
          <a:prstGeom prst="rect">
            <a:avLst>
              <a:gd name="adj" fmla="val 92308"/>
            </a:avLst>
          </a:prstGeom>
          <a:solidFill>
            <a:srgbClr val="10B981"/>
          </a:solidFill>
          <a:ln/>
        </p:spPr>
      </p:sp>
      <p:sp>
        <p:nvSpPr>
          <p:cNvPr id="33" name="Text 31"/>
          <p:cNvSpPr/>
          <p:nvPr/>
        </p:nvSpPr>
        <p:spPr>
          <a:xfrm>
            <a:off x="6492240" y="2962656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06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132320" y="296265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Non-functional — Performance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132320" y="327355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SLA, throughput, latency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5760" y="3877056"/>
            <a:ext cx="5760720" cy="868680"/>
          </a:xfrm>
          <a:prstGeom prst="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65760" y="3877056"/>
            <a:ext cx="59436" cy="868680"/>
          </a:xfrm>
          <a:prstGeom prst="rect">
            <a:avLst>
              <a:gd name="adj" fmla="val 92308"/>
            </a:avLst>
          </a:prstGeom>
          <a:solidFill>
            <a:srgbClr val="10B981"/>
          </a:solidFill>
          <a:ln/>
        </p:spPr>
      </p:sp>
      <p:sp>
        <p:nvSpPr>
          <p:cNvPr id="38" name="Text 36"/>
          <p:cNvSpPr/>
          <p:nvPr/>
        </p:nvSpPr>
        <p:spPr>
          <a:xfrm>
            <a:off x="502920" y="395020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07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143000" y="39502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Non-functional — Security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143000" y="426110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Auth, encryption, OWASP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355080" y="3877056"/>
            <a:ext cx="5760720" cy="868680"/>
          </a:xfrm>
          <a:prstGeom prst="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355080" y="3877056"/>
            <a:ext cx="59436" cy="868680"/>
          </a:xfrm>
          <a:prstGeom prst="rect">
            <a:avLst>
              <a:gd name="adj" fmla="val 92308"/>
            </a:avLst>
          </a:prstGeom>
          <a:solidFill>
            <a:srgbClr val="10B981"/>
          </a:solidFill>
          <a:ln/>
        </p:spPr>
      </p:sp>
      <p:sp>
        <p:nvSpPr>
          <p:cNvPr id="43" name="Text 41"/>
          <p:cNvSpPr/>
          <p:nvPr/>
        </p:nvSpPr>
        <p:spPr>
          <a:xfrm>
            <a:off x="6492240" y="395020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08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132320" y="39502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Non-functional — Scalability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132320" y="426110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Horizontal scaling, CDN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65760" y="4864608"/>
            <a:ext cx="5760720" cy="868680"/>
          </a:xfrm>
          <a:prstGeom prst="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65760" y="4864608"/>
            <a:ext cx="59436" cy="868680"/>
          </a:xfrm>
          <a:prstGeom prst="rect">
            <a:avLst>
              <a:gd name="adj" fmla="val 92308"/>
            </a:avLst>
          </a:prstGeom>
          <a:solidFill>
            <a:srgbClr val="10B981"/>
          </a:solidFill>
          <a:ln/>
        </p:spPr>
      </p:sp>
      <p:sp>
        <p:nvSpPr>
          <p:cNvPr id="48" name="Text 46"/>
          <p:cNvSpPr/>
          <p:nvPr/>
        </p:nvSpPr>
        <p:spPr>
          <a:xfrm>
            <a:off x="502920" y="493776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09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143000" y="49377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Interface Requirements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143000" y="524865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UI, API, external systems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355080" y="4864608"/>
            <a:ext cx="5760720" cy="868680"/>
          </a:xfrm>
          <a:prstGeom prst="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355080" y="4864608"/>
            <a:ext cx="59436" cy="868680"/>
          </a:xfrm>
          <a:prstGeom prst="rect">
            <a:avLst>
              <a:gd name="adj" fmla="val 92308"/>
            </a:avLst>
          </a:prstGeom>
          <a:solidFill>
            <a:srgbClr val="10B981"/>
          </a:solidFill>
          <a:ln/>
        </p:spPr>
      </p:sp>
      <p:sp>
        <p:nvSpPr>
          <p:cNvPr id="53" name="Text 51"/>
          <p:cNvSpPr/>
          <p:nvPr/>
        </p:nvSpPr>
        <p:spPr>
          <a:xfrm>
            <a:off x="6492240" y="493776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10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132320" y="49377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Database Schema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7132320" y="524865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High-level ERD, tables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65760" y="5852160"/>
            <a:ext cx="5760720" cy="868680"/>
          </a:xfrm>
          <a:prstGeom prst="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365760" y="5852160"/>
            <a:ext cx="59436" cy="868680"/>
          </a:xfrm>
          <a:prstGeom prst="rect">
            <a:avLst>
              <a:gd name="adj" fmla="val 92308"/>
            </a:avLst>
          </a:prstGeom>
          <a:solidFill>
            <a:srgbClr val="10B981"/>
          </a:solidFill>
          <a:ln/>
        </p:spPr>
      </p:sp>
      <p:sp>
        <p:nvSpPr>
          <p:cNvPr id="58" name="Text 56"/>
          <p:cNvSpPr/>
          <p:nvPr/>
        </p:nvSpPr>
        <p:spPr>
          <a:xfrm>
            <a:off x="502920" y="592531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11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1143000" y="592531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Error Handling &amp; Logging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1143000" y="623620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Error codes, structured logs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355080" y="5852160"/>
            <a:ext cx="5760720" cy="868680"/>
          </a:xfrm>
          <a:prstGeom prst="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6355080" y="5852160"/>
            <a:ext cx="59436" cy="868680"/>
          </a:xfrm>
          <a:prstGeom prst="rect">
            <a:avLst>
              <a:gd name="adj" fmla="val 92308"/>
            </a:avLst>
          </a:prstGeom>
          <a:solidFill>
            <a:srgbClr val="10B981"/>
          </a:solidFill>
          <a:ln/>
        </p:spPr>
      </p:sp>
      <p:sp>
        <p:nvSpPr>
          <p:cNvPr id="63" name="Text 61"/>
          <p:cNvSpPr/>
          <p:nvPr/>
        </p:nvSpPr>
        <p:spPr>
          <a:xfrm>
            <a:off x="6492240" y="592531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12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7132320" y="592531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Deployment &amp; Environments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7132320" y="623620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Dev/Staging/Prod, CI/CD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0D1B6E"/>
          </a:solidFill>
          <a:ln w="12700">
            <a:solidFill>
              <a:srgbClr val="0D1B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01  SYSTEM OVERVIEW &amp; SCOPE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11430000" cy="1691640"/>
          </a:xfrm>
          <a:prstGeom prst="rect">
            <a:avLst>
              <a:gd name="adj" fmla="val 3784"/>
            </a:avLst>
          </a:prstGeom>
          <a:solidFill>
            <a:srgbClr val="253480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59436" cy="1691640"/>
          </a:xfrm>
          <a:prstGeom prst="rect">
            <a:avLst>
              <a:gd name="adj" fmla="val 107692"/>
            </a:avLst>
          </a:prstGeom>
          <a:solidFill>
            <a:srgbClr val="4FC3F7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0515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C3F7"/>
                </a:solidFill>
              </a:rPr>
              <a:t>🖥️  System Overview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66928" y="14173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[Mô tả hệ thống làm gì — 2–3 câu. Ai dùng, dùng như thế nào, business context]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834640"/>
            <a:ext cx="11430000" cy="1691640"/>
          </a:xfrm>
          <a:prstGeom prst="rect">
            <a:avLst>
              <a:gd name="adj" fmla="val 3784"/>
            </a:avLst>
          </a:prstGeom>
          <a:solidFill>
            <a:srgbClr val="253480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834640"/>
            <a:ext cx="59436" cy="1691640"/>
          </a:xfrm>
          <a:prstGeom prst="rect">
            <a:avLst>
              <a:gd name="adj" fmla="val 107692"/>
            </a:avLst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926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✅  In Scope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" y="329184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[Modules, features, APIs nằm trong SRS này]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4709160"/>
            <a:ext cx="11430000" cy="1691640"/>
          </a:xfrm>
          <a:prstGeom prst="rect">
            <a:avLst>
              <a:gd name="adj" fmla="val 3784"/>
            </a:avLst>
          </a:prstGeom>
          <a:solidFill>
            <a:srgbClr val="253480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4709160"/>
            <a:ext cx="59436" cy="1691640"/>
          </a:xfrm>
          <a:prstGeom prst="rect">
            <a:avLst>
              <a:gd name="adj" fmla="val 107692"/>
            </a:avLst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48006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🚫  Out of Scope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66928" y="51663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[Modules không được cover — và đang ở SRS nào]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02  💻  TECH STACK &amp; ARCHITECTURE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1179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C3F7"/>
                </a:solidFill>
              </a:rPr>
              <a:t>SRS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5760720" cy="1719072"/>
          </a:xfrm>
          <a:prstGeom prst="rect">
            <a:avLst>
              <a:gd name="adj" fmla="val 3723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5760720" cy="502920"/>
          </a:xfrm>
          <a:prstGeom prst="rect">
            <a:avLst>
              <a:gd name="adj" fmla="val 1272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14984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Frontend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563624"/>
            <a:ext cx="5486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[Framework] v[X.X] · [Styling: Tailwind/CSS Modules]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55080" y="960120"/>
            <a:ext cx="5760720" cy="1719072"/>
          </a:xfrm>
          <a:prstGeom prst="rect">
            <a:avLst>
              <a:gd name="adj" fmla="val 3723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55080" y="960120"/>
            <a:ext cx="5760720" cy="502920"/>
          </a:xfrm>
          <a:prstGeom prst="rect">
            <a:avLst>
              <a:gd name="adj" fmla="val 1272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014984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Backend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92240" y="1563624"/>
            <a:ext cx="5486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[Language] · [Framework] v[X.X] · [ORM]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880360"/>
            <a:ext cx="5760720" cy="1719072"/>
          </a:xfrm>
          <a:prstGeom prst="rect">
            <a:avLst>
              <a:gd name="adj" fmla="val 3723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880360"/>
            <a:ext cx="5760720" cy="502920"/>
          </a:xfrm>
          <a:prstGeom prst="rect">
            <a:avLst>
              <a:gd name="adj" fmla="val 1272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935224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Database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3483864"/>
            <a:ext cx="5486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[DB Type] v[X.X] · [Caching: Redis v[X.X]]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355080" y="2880360"/>
            <a:ext cx="5760720" cy="1719072"/>
          </a:xfrm>
          <a:prstGeom prst="rect">
            <a:avLst>
              <a:gd name="adj" fmla="val 3723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55080" y="2880360"/>
            <a:ext cx="5760720" cy="502920"/>
          </a:xfrm>
          <a:prstGeom prst="rect">
            <a:avLst>
              <a:gd name="adj" fmla="val 1272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2935224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Queue/Events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92240" y="3483864"/>
            <a:ext cx="5486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[Kafka/RabbitMQ] · [Event-driven patterns]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4800600"/>
            <a:ext cx="5760720" cy="1719072"/>
          </a:xfrm>
          <a:prstGeom prst="rect">
            <a:avLst>
              <a:gd name="adj" fmla="val 3723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4800600"/>
            <a:ext cx="5760720" cy="502920"/>
          </a:xfrm>
          <a:prstGeom prst="rect">
            <a:avLst>
              <a:gd name="adj" fmla="val 1272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855464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Cloud/Infra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5404104"/>
            <a:ext cx="5486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[AWS/GCP] · [Container: Docker/K8s] · [Load Balancer]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355080" y="4800600"/>
            <a:ext cx="5760720" cy="1719072"/>
          </a:xfrm>
          <a:prstGeom prst="rect">
            <a:avLst>
              <a:gd name="adj" fmla="val 3723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355080" y="4800600"/>
            <a:ext cx="5760720" cy="502920"/>
          </a:xfrm>
          <a:prstGeom prst="rect">
            <a:avLst>
              <a:gd name="adj" fmla="val 1272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4855464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CI/CD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92240" y="5404104"/>
            <a:ext cx="5486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[GitHub Actions/Jenkins] · [Registry: ECR/DockerHub]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03  🔐  FUNCTIONAL REQ — AUTHENTICATION &amp; CORE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1179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C3F7"/>
                </a:solidFill>
              </a:rPr>
              <a:t>SRS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11430000" cy="1261872"/>
          </a:xfrm>
          <a:prstGeom prst="rect">
            <a:avLst>
              <a:gd name="adj" fmla="val 5072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59436" cy="1261872"/>
          </a:xfrm>
          <a:prstGeom prst="rect">
            <a:avLst>
              <a:gd name="adj" fmla="val 107692"/>
            </a:avLst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069848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FR-001: Authentication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POST /auth/login → {access_token, refresh_token}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Business Rule: bcrypt salt≥12 · Rate limit: 5 fails/15min → 429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2377440"/>
            <a:ext cx="11430000" cy="1261872"/>
          </a:xfrm>
          <a:prstGeom prst="rect">
            <a:avLst>
              <a:gd name="adj" fmla="val 5072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377440"/>
            <a:ext cx="59436" cy="1261872"/>
          </a:xfrm>
          <a:prstGeom prst="rect">
            <a:avLst>
              <a:gd name="adj" fmla="val 107692"/>
            </a:avLst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487168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FR-002: Authorization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RBAC model: [Role A, Role B, Role C]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Resource ownership check on all write operations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3794760"/>
            <a:ext cx="11430000" cy="1261872"/>
          </a:xfrm>
          <a:prstGeom prst="rect">
            <a:avLst>
              <a:gd name="adj" fmla="val 5072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794760"/>
            <a:ext cx="59436" cy="1261872"/>
          </a:xfrm>
          <a:prstGeom prst="rect">
            <a:avLst>
              <a:gd name="adj" fmla="val 107692"/>
            </a:avLst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3904488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FR-003: Core Flow #1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[Mô tả flow chính — input, output, business rules, error cases]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5212080"/>
            <a:ext cx="11430000" cy="1261872"/>
          </a:xfrm>
          <a:prstGeom prst="rect">
            <a:avLst>
              <a:gd name="adj" fmla="val 5072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5212080"/>
            <a:ext cx="59436" cy="1261872"/>
          </a:xfrm>
          <a:prstGeom prst="rect">
            <a:avLst>
              <a:gd name="adj" fmla="val 107692"/>
            </a:avLst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5321808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FR-004: Core Flow #2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[Mô tả flow chính #2]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04  ⚙️  FUNCTIONAL REQ — BUSINESS LOGIC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1179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C3F7"/>
                </a:solidFill>
              </a:rPr>
              <a:t>SRS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11430000" cy="1261872"/>
          </a:xfrm>
          <a:prstGeom prst="rect">
            <a:avLst>
              <a:gd name="adj" fmla="val 5072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59436" cy="1261872"/>
          </a:xfrm>
          <a:prstGeom prst="rect">
            <a:avLst>
              <a:gd name="adj" fmla="val 107692"/>
            </a:avLst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069848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FR-010: [Business Rule 1]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[Input/Output/Validation/Error handing]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2377440"/>
            <a:ext cx="11430000" cy="1261872"/>
          </a:xfrm>
          <a:prstGeom prst="rect">
            <a:avLst>
              <a:gd name="adj" fmla="val 5072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377440"/>
            <a:ext cx="59436" cy="1261872"/>
          </a:xfrm>
          <a:prstGeom prst="rect">
            <a:avLst>
              <a:gd name="adj" fmla="val 107692"/>
            </a:avLst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487168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FR-011: [Business Rule 2]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[Input/Output/Validation/Error handling]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3794760"/>
            <a:ext cx="11430000" cy="1261872"/>
          </a:xfrm>
          <a:prstGeom prst="rect">
            <a:avLst>
              <a:gd name="adj" fmla="val 5072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794760"/>
            <a:ext cx="59436" cy="1261872"/>
          </a:xfrm>
          <a:prstGeom prst="rect">
            <a:avLst>
              <a:gd name="adj" fmla="val 107692"/>
            </a:avLst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3904488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FR-012: [Calculation Logic]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Formula: [mô tả công thức] · Precision: [X decimal places]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5212080"/>
            <a:ext cx="11430000" cy="1261872"/>
          </a:xfrm>
          <a:prstGeom prst="rect">
            <a:avLst>
              <a:gd name="adj" fmla="val 5072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5212080"/>
            <a:ext cx="59436" cy="1261872"/>
          </a:xfrm>
          <a:prstGeom prst="rect">
            <a:avLst>
              <a:gd name="adj" fmla="val 107692"/>
            </a:avLst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5321808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FR-013: [State Machine]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States: [A→B→C→D] · Transitions: [conditions]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05  🔌  FUNCTIONAL REQ — INTEGRATIONS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1179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C3F7"/>
                </a:solidFill>
              </a:rPr>
              <a:t>SRS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11430000" cy="1261872"/>
          </a:xfrm>
          <a:prstGeom prst="rect">
            <a:avLst>
              <a:gd name="adj" fmla="val 5072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59436" cy="1261872"/>
          </a:xfrm>
          <a:prstGeom prst="rect">
            <a:avLst>
              <a:gd name="adj" fmla="val 107692"/>
            </a:avLst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069848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FR-020: Payment Gateway Integration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Provider: [MoMo/VNPay/Stripe] · Webhook: POST /webhooks/payment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Payload validation: HMAC-SHA256 signature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2377440"/>
            <a:ext cx="11430000" cy="1261872"/>
          </a:xfrm>
          <a:prstGeom prst="rect">
            <a:avLst>
              <a:gd name="adj" fmla="val 5072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377440"/>
            <a:ext cx="59436" cy="1261872"/>
          </a:xfrm>
          <a:prstGeom prst="rect">
            <a:avLst>
              <a:gd name="adj" fmla="val 107692"/>
            </a:avLst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487168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FR-021: Email Service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Provider: [SendGrid/SES] · Template IDs: [welcome, reset_pw, notification]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Retry: 3 attempts with exponential backoff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3794760"/>
            <a:ext cx="11430000" cy="1261872"/>
          </a:xfrm>
          <a:prstGeom prst="rect">
            <a:avLst>
              <a:gd name="adj" fmla="val 5072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794760"/>
            <a:ext cx="59436" cy="1261872"/>
          </a:xfrm>
          <a:prstGeom prst="rect">
            <a:avLst>
              <a:gd name="adj" fmla="val 107692"/>
            </a:avLst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3904488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FR-022: Push Notification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Provider: [Firebase FCM] · Topics: [user_id, broadcast]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Silent push for background sync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5212080"/>
            <a:ext cx="11430000" cy="1261872"/>
          </a:xfrm>
          <a:prstGeom prst="rect">
            <a:avLst>
              <a:gd name="adj" fmla="val 5072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5212080"/>
            <a:ext cx="59436" cy="1261872"/>
          </a:xfrm>
          <a:prstGeom prst="rect">
            <a:avLst>
              <a:gd name="adj" fmla="val 107692"/>
            </a:avLst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5321808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FR-023: Storage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Provider: [S3/GCS] · File types: [jpg, png, pdf] max [X]MB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CDN: CloudFront/Cloudflare delivery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06  ⚡  NON-FUNCTIONAL — PERFORMANCE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1179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C3F7"/>
                </a:solidFill>
              </a:rPr>
              <a:t>SRS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5760720" cy="2377440"/>
          </a:xfrm>
          <a:prstGeom prst="rect">
            <a:avLst>
              <a:gd name="adj" fmla="val 2692"/>
            </a:avLst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5760720" cy="566928"/>
          </a:xfrm>
          <a:prstGeom prst="rect">
            <a:avLst>
              <a:gd name="adj" fmla="val 1129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3327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API Response Time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645920"/>
            <a:ext cx="5486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P50 &lt; 200ms · P95 &lt; 500ms · P99 &lt; 1000ms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55080" y="960120"/>
            <a:ext cx="5760720" cy="2377440"/>
          </a:xfrm>
          <a:prstGeom prst="rect">
            <a:avLst>
              <a:gd name="adj" fmla="val 2692"/>
            </a:avLst>
          </a:prstGeom>
          <a:solidFill>
            <a:srgbClr val="FFFFFF"/>
          </a:solidFill>
          <a:ln w="254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55080" y="960120"/>
            <a:ext cx="5760720" cy="566928"/>
          </a:xfrm>
          <a:prstGeom prst="rect">
            <a:avLst>
              <a:gd name="adj" fmla="val 11290"/>
            </a:avLst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03327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Page Load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92240" y="1645920"/>
            <a:ext cx="5486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&lt; 3s trên 4G · First Contentful Paint &lt; 1.5s · LCP &lt; 2.5s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566160"/>
            <a:ext cx="5760720" cy="2377440"/>
          </a:xfrm>
          <a:prstGeom prst="rect">
            <a:avLst>
              <a:gd name="adj" fmla="val 2692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566160"/>
            <a:ext cx="5760720" cy="566928"/>
          </a:xfrm>
          <a:prstGeom prst="rect">
            <a:avLst>
              <a:gd name="adj" fmla="val 1129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63931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Throughput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4251960"/>
            <a:ext cx="5486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Peak: [X] requests/second · Max concurrent users: [X]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55080" y="3566160"/>
            <a:ext cx="5760720" cy="2377440"/>
          </a:xfrm>
          <a:prstGeom prst="rect">
            <a:avLst>
              <a:gd name="adj" fmla="val 2692"/>
            </a:avLst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55080" y="3566160"/>
            <a:ext cx="5760720" cy="566928"/>
          </a:xfrm>
          <a:prstGeom prst="rect">
            <a:avLst>
              <a:gd name="adj" fmla="val 1129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363931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Uptime SLA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92240" y="4251960"/>
            <a:ext cx="5486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99.9% (max 8.76 hours downtime/year) · RTO &lt; 4h · RPO &lt; 1h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07  🔒  NON-FUNCTIONAL — SECURITY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1179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C3F7"/>
                </a:solidFill>
              </a:rPr>
              <a:t>SRS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11430000" cy="822960"/>
          </a:xfrm>
          <a:prstGeom prst="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59436" cy="822960"/>
          </a:xfrm>
          <a:prstGeom prst="rect">
            <a:avLst>
              <a:gd name="adj" fmla="val 107692"/>
            </a:avLst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0332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Authentication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383280" y="1033272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JWT (HS256/RS256) · Access token: 15min TTL · Refresh: 7 days · Revocation via Redis blacklist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1920240"/>
            <a:ext cx="11430000" cy="822960"/>
          </a:xfrm>
          <a:prstGeom prst="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920240"/>
            <a:ext cx="59436" cy="822960"/>
          </a:xfrm>
          <a:prstGeom prst="rect">
            <a:avLst>
              <a:gd name="adj" fmla="val 107692"/>
            </a:avLst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19933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Authorization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383280" y="1993392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RBAC · Resource-level permissions · Principle of least privilege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880360"/>
            <a:ext cx="11430000" cy="822960"/>
          </a:xfrm>
          <a:prstGeom prst="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880360"/>
            <a:ext cx="59436" cy="822960"/>
          </a:xfrm>
          <a:prstGeom prst="rect">
            <a:avLst>
              <a:gd name="adj" fmla="val 107692"/>
            </a:avLst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29535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Data Encryption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383280" y="2953512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At rest: AES-256 · In transit: TLS 1.3 minimum · PII: field-level encryption for [fields]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3840480"/>
            <a:ext cx="11430000" cy="822960"/>
          </a:xfrm>
          <a:prstGeom prst="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840480"/>
            <a:ext cx="59436" cy="822960"/>
          </a:xfrm>
          <a:prstGeom prst="rect">
            <a:avLst>
              <a:gd name="adj" fmla="val 107692"/>
            </a:avLst>
          </a:prstGeom>
          <a:solidFill>
            <a:srgbClr val="EF4444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9136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OWASP Top 10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83280" y="3913632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SQL Injection: Parameterized queries · XSS: CSP headers + input sanitization · CSRF: SameSite cookies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4800600"/>
            <a:ext cx="11430000" cy="822960"/>
          </a:xfrm>
          <a:prstGeom prst="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4800600"/>
            <a:ext cx="59436" cy="822960"/>
          </a:xfrm>
          <a:prstGeom prst="rect">
            <a:avLst>
              <a:gd name="adj" fmla="val 107692"/>
            </a:avLst>
          </a:prstGeom>
          <a:solidFill>
            <a:srgbClr val="EF4444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8737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Rate Limiting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383280" y="4873752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Auth endpoints: 5 req/15min · API: 100 req/min per user · DDoS: WAF + Cloudflare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5760720"/>
            <a:ext cx="11430000" cy="822960"/>
          </a:xfrm>
          <a:prstGeom prst="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5760720"/>
            <a:ext cx="59436" cy="822960"/>
          </a:xfrm>
          <a:prstGeom prst="rect">
            <a:avLst>
              <a:gd name="adj" fmla="val 107692"/>
            </a:avLst>
          </a:prstGeom>
          <a:solidFill>
            <a:srgbClr val="EF4444"/>
          </a:solidFill>
          <a:ln/>
        </p:spPr>
      </p:sp>
      <p:sp>
        <p:nvSpPr>
          <p:cNvPr id="28" name="Text 26"/>
          <p:cNvSpPr/>
          <p:nvPr/>
        </p:nvSpPr>
        <p:spPr>
          <a:xfrm>
            <a:off x="566928" y="58338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Audit Logging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383280" y="5833872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All create/update/delete operations logged with: user_id, timestamp, IP, before/after state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08  📈  NON-FUNCTIONAL — SCALABILITY &amp; USABILITY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1179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C3F7"/>
                </a:solidFill>
              </a:rPr>
              <a:t>SRS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11430000" cy="822960"/>
          </a:xfrm>
          <a:prstGeom prst="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59436" cy="822960"/>
          </a:xfrm>
          <a:prstGeom prst="rect">
            <a:avLst>
              <a:gd name="adj" fmla="val 107692"/>
            </a:avLst>
          </a:prstGeom>
          <a:solidFill>
            <a:srgbClr val="4FC3F7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03327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Horizontal Scaling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566160" y="103327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Stateless services deployable behind load balancer · Session stored in Redis (not server memory)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1920240"/>
            <a:ext cx="11430000" cy="822960"/>
          </a:xfrm>
          <a:prstGeom prst="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920240"/>
            <a:ext cx="59436" cy="822960"/>
          </a:xfrm>
          <a:prstGeom prst="rect">
            <a:avLst>
              <a:gd name="adj" fmla="val 107692"/>
            </a:avLst>
          </a:prstGeom>
          <a:solidFill>
            <a:srgbClr val="4FC3F7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199339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Database Scaling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566160" y="199339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Read replicas for query-heavy ops · Connection pooling: max [X] connections · Sharding trigger: &gt; [X]M rows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880360"/>
            <a:ext cx="11430000" cy="822960"/>
          </a:xfrm>
          <a:prstGeom prst="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880360"/>
            <a:ext cx="59436" cy="822960"/>
          </a:xfrm>
          <a:prstGeom prst="rect">
            <a:avLst>
              <a:gd name="adj" fmla="val 107692"/>
            </a:avLst>
          </a:prstGeom>
          <a:solidFill>
            <a:srgbClr val="4FC3F7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2953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CDN Strategy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566160" y="295351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Static assets: [CloudFront/Cloudflare] · Cache TTL: 1 year (content-hash filenames) · Image optimization: WebP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3840480"/>
            <a:ext cx="11430000" cy="822960"/>
          </a:xfrm>
          <a:prstGeom prst="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840480"/>
            <a:ext cx="59436" cy="822960"/>
          </a:xfrm>
          <a:prstGeom prst="rect">
            <a:avLst>
              <a:gd name="adj" fmla="val 107692"/>
            </a:avLst>
          </a:prstGeom>
          <a:solidFill>
            <a:srgbClr val="4FC3F7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9136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API Design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566160" y="391363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RESTful · Versioning: /api/v1/ · Response format: JSON · Pagination: cursor-based for large datasets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4800600"/>
            <a:ext cx="11430000" cy="822960"/>
          </a:xfrm>
          <a:prstGeom prst="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4800600"/>
            <a:ext cx="59436" cy="822960"/>
          </a:xfrm>
          <a:prstGeom prst="rect">
            <a:avLst>
              <a:gd name="adj" fmla="val 107692"/>
            </a:avLst>
          </a:prstGeom>
          <a:solidFill>
            <a:srgbClr val="4FC3F7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87375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Error Messages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566160" y="487375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Human-readable, localized ([vi/en]) · Error code scheme: [domain]-[code] e.g. AUTH-001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5760720"/>
            <a:ext cx="11430000" cy="822960"/>
          </a:xfrm>
          <a:prstGeom prst="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5760720"/>
            <a:ext cx="59436" cy="822960"/>
          </a:xfrm>
          <a:prstGeom prst="rect">
            <a:avLst>
              <a:gd name="adj" fmla="val 107692"/>
            </a:avLst>
          </a:prstGeom>
          <a:solidFill>
            <a:srgbClr val="4FC3F7"/>
          </a:solidFill>
          <a:ln/>
        </p:spPr>
      </p:sp>
      <p:sp>
        <p:nvSpPr>
          <p:cNvPr id="28" name="Text 26"/>
          <p:cNvSpPr/>
          <p:nvPr/>
        </p:nvSpPr>
        <p:spPr>
          <a:xfrm>
            <a:off x="566928" y="583387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Logging Format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566160" y="583387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Structured JSON logs · Fields: timestamp, level, service, trace_id, user_id, message, duration_ms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09  🔌  INTERFACE REQUIREMENTS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1179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C3F7"/>
                </a:solidFill>
              </a:rPr>
              <a:t>SRS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USER INTERFACE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170432"/>
            <a:ext cx="11430000" cy="475488"/>
          </a:xfrm>
          <a:prstGeom prst="rect">
            <a:avLst>
              <a:gd name="adj" fmla="val 13462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170432"/>
            <a:ext cx="59436" cy="475488"/>
          </a:xfrm>
          <a:prstGeom prst="rect">
            <a:avLst>
              <a:gd name="adj" fmla="val 107692"/>
            </a:avLst>
          </a:prstGeom>
          <a:solidFill>
            <a:srgbClr val="4FC3F7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12618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Browser Support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383280" y="12618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Chrome 90+ · Safari 14+ · Firefox 88+ · Edge 90+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1719072"/>
            <a:ext cx="11430000" cy="475488"/>
          </a:xfrm>
          <a:prstGeom prst="rect">
            <a:avLst>
              <a:gd name="adj" fmla="val 13462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719072"/>
            <a:ext cx="59436" cy="475488"/>
          </a:xfrm>
          <a:prstGeom prst="rect">
            <a:avLst>
              <a:gd name="adj" fmla="val 107692"/>
            </a:avLst>
          </a:prstGeom>
          <a:solidFill>
            <a:srgbClr val="4FC3F7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18105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Mobile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383280" y="1810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iOS 14+ · Android 10+ · React Native / Flutter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267712"/>
            <a:ext cx="11430000" cy="475488"/>
          </a:xfrm>
          <a:prstGeom prst="rect">
            <a:avLst>
              <a:gd name="adj" fmla="val 13462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267712"/>
            <a:ext cx="59436" cy="475488"/>
          </a:xfrm>
          <a:prstGeom prst="rect">
            <a:avLst>
              <a:gd name="adj" fmla="val 107692"/>
            </a:avLst>
          </a:prstGeom>
          <a:solidFill>
            <a:srgbClr val="4FC3F7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23591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Min Resolution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83280" y="23591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320px width · Responsive breakpoints: 320/768/1024/1440px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5760" y="28803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API INTERFACE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218688"/>
            <a:ext cx="11430000" cy="475488"/>
          </a:xfrm>
          <a:prstGeom prst="rect">
            <a:avLst>
              <a:gd name="adj" fmla="val 13462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218688"/>
            <a:ext cx="59436" cy="475488"/>
          </a:xfrm>
          <a:prstGeom prst="rect">
            <a:avLst>
              <a:gd name="adj" fmla="val 107692"/>
            </a:avLst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" y="33101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Protocol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383280" y="33101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HTTPS RESTful · JSON data format · Bearer token auth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3767328"/>
            <a:ext cx="11430000" cy="475488"/>
          </a:xfrm>
          <a:prstGeom prst="rect">
            <a:avLst>
              <a:gd name="adj" fmla="val 13462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767328"/>
            <a:ext cx="59436" cy="475488"/>
          </a:xfrm>
          <a:prstGeom prst="rect">
            <a:avLst>
              <a:gd name="adj" fmla="val 107692"/>
            </a:avLst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566928" y="38587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Versioning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383280" y="38587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/api/v1/ prefix · Deprecation notice: 6 months before removal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4315968"/>
            <a:ext cx="11430000" cy="475488"/>
          </a:xfrm>
          <a:prstGeom prst="rect">
            <a:avLst>
              <a:gd name="adj" fmla="val 13462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4315968"/>
            <a:ext cx="59436" cy="475488"/>
          </a:xfrm>
          <a:prstGeom prst="rect">
            <a:avLst>
              <a:gd name="adj" fmla="val 107692"/>
            </a:avLst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566928" y="44074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Standard Response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383280" y="44074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{"data": {...}, "meta": {"page": 1, "total": 100}, "error": null}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65760" y="48920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EXTERNAL SYSTEMS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5230368"/>
          <a:ext cx="11430000" cy="1417320"/>
        </p:xfrm>
        <a:graphic>
          <a:graphicData uri="http://schemas.openxmlformats.org/drawingml/2006/table">
            <a:tbl>
              <a:tblPr/>
              <a:tblGrid>
                <a:gridCol w="3200400"/>
                <a:gridCol w="2560320"/>
                <a:gridCol w="2468880"/>
                <a:gridCol w="32004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System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Protocol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Auth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Data Format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[Payment GW]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HTTPS REST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API Key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JSON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[Email SVC]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SMTP / API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OAuth2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JSON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[Push Notif]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FCM API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Service Account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JSON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10  🗄️  DATABASE SCHEMA (High-level)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1179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C3F7"/>
                </a:solidFill>
              </a:rPr>
              <a:t>SRS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5760720" cy="2514600"/>
          </a:xfrm>
          <a:prstGeom prst="rect">
            <a:avLst>
              <a:gd name="adj" fmla="val 2545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5760720" cy="502920"/>
          </a:xfrm>
          <a:prstGeom prst="rect">
            <a:avLst>
              <a:gd name="adj" fmla="val 1272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14984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📊  users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55448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id: UUID PK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email: VARCHAR(255) UNIQUE NOT NULL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password_hash: VARCHAR(255) NOT NULL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role: ENUM('admin','user','guest')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created_at: TIMESTAMP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updated_at: TIMESTAMP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355080" y="960120"/>
            <a:ext cx="5760720" cy="2514600"/>
          </a:xfrm>
          <a:prstGeom prst="rect">
            <a:avLst>
              <a:gd name="adj" fmla="val 2545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55080" y="960120"/>
            <a:ext cx="5760720" cy="502920"/>
          </a:xfrm>
          <a:prstGeom prst="rect">
            <a:avLst>
              <a:gd name="adj" fmla="val 1272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014984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📊  [table_2]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92240" y="155448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id: UUID PK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user_id: UUID FK → users.id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[field_1]: [type] [constraint]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[field_2]: [type] [constraint]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status: ENUM('[A]','[B]','[C]')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created_at: TIMESTAMP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5760" y="3685032"/>
            <a:ext cx="5760720" cy="2514600"/>
          </a:xfrm>
          <a:prstGeom prst="rect">
            <a:avLst>
              <a:gd name="adj" fmla="val 2545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685032"/>
            <a:ext cx="5760720" cy="502920"/>
          </a:xfrm>
          <a:prstGeom prst="rect">
            <a:avLst>
              <a:gd name="adj" fmla="val 1272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739896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📊  [table_3]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4279392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id: UUID PK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[relation_id]: UUID FK → [table].id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[amount]: DECIMAL(15,2)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[status]: VARCHAR(50)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metadata: JSONB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created_at: TIMESTAMP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355080" y="3685032"/>
            <a:ext cx="5760720" cy="2514600"/>
          </a:xfrm>
          <a:prstGeom prst="rect">
            <a:avLst>
              <a:gd name="adj" fmla="val 2545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55080" y="3685032"/>
            <a:ext cx="5760720" cy="502920"/>
          </a:xfrm>
          <a:prstGeom prst="rect">
            <a:avLst>
              <a:gd name="adj" fmla="val 1272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3739896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📊  [table_4]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92240" y="4279392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id: UUID PK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[field_1]: [type]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[field_2]: [type]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indexes: [field_1, status]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created_at: TIMESTAMP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updated_at: TIMESTAMP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11  📋  ERROR HANDLING &amp; LOGGING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1179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C3F7"/>
                </a:solidFill>
              </a:rPr>
              <a:t>SRS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STANDARD ERROR RESPONSE FORMAT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11430000" cy="1261872"/>
          </a:xfrm>
          <a:prstGeom prst="rect">
            <a:avLst>
              <a:gd name="adj" fmla="val 4348"/>
            </a:avLst>
          </a:prstGeom>
          <a:solidFill>
            <a:srgbClr val="1A1A3E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07008"/>
            <a:ext cx="11155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"error": { "code": "AUTH-001", "message": "Token expired", "details": null },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"data": null, "meta": { "request_id": "uuid", "timestamp": "ISO8601" } }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24871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HTTP STATUS CODE GUIDE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816352"/>
          <a:ext cx="6400800" cy="3429000"/>
        </p:xfrm>
        <a:graphic>
          <a:graphicData uri="http://schemas.openxmlformats.org/drawingml/2006/table">
            <a:tbl>
              <a:tblPr/>
              <a:tblGrid>
                <a:gridCol w="1097280"/>
                <a:gridCol w="2011680"/>
                <a:gridCol w="32918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Code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When to use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200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OK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Successful GET, PUT, PATCH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201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Created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Successful POST creating resource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400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Bad Request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Validation error, malformed request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401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Unauthorized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Missing or invalid token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403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Forbidden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Valid token, insufficient permission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429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Too Many Requests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Rate limit exceeded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500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Internal Server Error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Unhandled exception — log &amp; alert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7040880" y="24871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LOG LEVELS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040880" y="2816352"/>
            <a:ext cx="4572000" cy="566928"/>
          </a:xfrm>
          <a:prstGeom prst="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178040" y="290779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DEBUG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8321040" y="29077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Dev detail, không log production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7040880" y="3474720"/>
            <a:ext cx="4572000" cy="566928"/>
          </a:xfrm>
          <a:prstGeom prst="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178040" y="356616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</a:rPr>
              <a:t>INFO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8321040" y="3566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Lifecycle events: request start/end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7040880" y="4133088"/>
            <a:ext cx="4572000" cy="566928"/>
          </a:xfrm>
          <a:prstGeom prst="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178040" y="422452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WARN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8321040" y="42245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Non-critical issues, rate limit near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7040880" y="4791456"/>
            <a:ext cx="4572000" cy="566928"/>
          </a:xfrm>
          <a:prstGeom prst="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7178040" y="488289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F4444"/>
                </a:solidFill>
              </a:rPr>
              <a:t>ERROR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8321040" y="488289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Exception caught, operation failed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7040880" y="5449824"/>
            <a:ext cx="4572000" cy="566928"/>
          </a:xfrm>
          <a:prstGeom prst="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7178040" y="554126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F4444"/>
                </a:solidFill>
              </a:rPr>
              <a:t>FATAL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8321040" y="554126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System cannot continue, alert triggered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12  🚀  DEPLOYMENT &amp; ENVIRONMENTS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1179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C3F7"/>
                </a:solidFill>
              </a:rPr>
              <a:t>SRS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11430000" cy="1645920"/>
          </a:xfrm>
          <a:prstGeom prst="rect">
            <a:avLst>
              <a:gd name="adj" fmla="val 3889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59436" cy="1645920"/>
          </a:xfrm>
          <a:prstGeom prst="rect">
            <a:avLst>
              <a:gd name="adj" fmla="val 107692"/>
            </a:avLst>
          </a:prstGeom>
          <a:solidFill>
            <a:srgbClr val="4FC3F7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0515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C3F7"/>
                </a:solidFill>
              </a:rPr>
              <a:t>Development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514600" y="10515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dev.[domain].com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0" y="105156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Deploy: Mỗi commit · Users: Developers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66928" y="14630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Auto-deploy on push · Feature flags 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770632"/>
            <a:ext cx="11430000" cy="1645920"/>
          </a:xfrm>
          <a:prstGeom prst="rect">
            <a:avLst>
              <a:gd name="adj" fmla="val 3889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770632"/>
            <a:ext cx="59436" cy="1645920"/>
          </a:xfrm>
          <a:prstGeom prst="rect">
            <a:avLst>
              <a:gd name="adj" fmla="val 107692"/>
            </a:avLst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28620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Staging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514600" y="28620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staging.[domain].com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0" y="2862072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Deploy: Mỗi PR merge · Users: QA Team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66928" y="3273552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Full integration test suite · Mirror prod data (anonymized)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4581144"/>
            <a:ext cx="11430000" cy="1645920"/>
          </a:xfrm>
          <a:prstGeom prst="rect">
            <a:avLst>
              <a:gd name="adj" fmla="val 3889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4581144"/>
            <a:ext cx="59436" cy="1645920"/>
          </a:xfrm>
          <a:prstGeom prst="rect">
            <a:avLst>
              <a:gd name="adj" fmla="val 107692"/>
            </a:avLst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467258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Production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514600" y="467258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[domain].com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0" y="4672584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Deploy: Weekly release · Users: All users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66928" y="5084064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Blue-green deployment · Rollback &lt; 5 min · APM monitoring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0D1B6E"/>
          </a:solidFill>
          <a:ln w="12700">
            <a:solidFill>
              <a:srgbClr val="0D1B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13  OPEN ISSUES &amp; SIGN-OFF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OPEN TECHNICAL ISSUES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207008"/>
            <a:ext cx="11430000" cy="822960"/>
          </a:xfrm>
          <a:prstGeom prst="rect">
            <a:avLst>
              <a:gd name="adj" fmla="val 6667"/>
            </a:avLst>
          </a:prstGeom>
          <a:solidFill>
            <a:srgbClr val="25348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16736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</a:rPr>
              <a:t>TI-001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463040" y="131673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[Technical issue / decision pending — ví dụ: DB schema cho audit log]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869680" y="131673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EF4444"/>
                </a:solidFill>
              </a:rPr>
              <a:t>Owner: Tech Lead  ·  Open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65760" y="2167128"/>
            <a:ext cx="11430000" cy="822960"/>
          </a:xfrm>
          <a:prstGeom prst="rect">
            <a:avLst>
              <a:gd name="adj" fmla="val 6667"/>
            </a:avLst>
          </a:prstGeom>
          <a:solidFill>
            <a:srgbClr val="25348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276856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</a:rPr>
              <a:t>TI-002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463040" y="227685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[Scalability concern — ví dụ: Queue strategy cho high volume events]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869680" y="227685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EF4444"/>
                </a:solidFill>
              </a:rPr>
              <a:t>Owner: Backend Dev  ·  Open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5760" y="3127248"/>
            <a:ext cx="11430000" cy="822960"/>
          </a:xfrm>
          <a:prstGeom prst="rect">
            <a:avLst>
              <a:gd name="adj" fmla="val 6667"/>
            </a:avLst>
          </a:prstGeom>
          <a:solidFill>
            <a:srgbClr val="25348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236976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TI-003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463040" y="323697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[Security review item — ví dụ: PII handling for EU users]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869680" y="323697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59E0B"/>
                </a:solidFill>
              </a:rPr>
              <a:t>Owner: Security  ·  In Review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65760" y="413308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SIGN-OFF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4462272"/>
            <a:ext cx="11430000" cy="475488"/>
          </a:xfrm>
          <a:prstGeom prst="rect">
            <a:avLst>
              <a:gd name="adj" fmla="val 9615"/>
            </a:avLst>
          </a:prstGeom>
          <a:solidFill>
            <a:srgbClr val="1A2566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53542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</a:rPr>
              <a:t>Product Owner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926080" y="4535424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Requirements complete &amp; approved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961120" y="453542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Signature: _______________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5760" y="5029200"/>
            <a:ext cx="11430000" cy="475488"/>
          </a:xfrm>
          <a:prstGeom prst="rect">
            <a:avLst>
              <a:gd name="adj" fmla="val 9615"/>
            </a:avLst>
          </a:prstGeom>
          <a:solidFill>
            <a:srgbClr val="1A2566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51023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</a:rPr>
              <a:t>Technical Lead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926080" y="510235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Architecture approved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961120" y="51023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Signature: _______________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5596128"/>
            <a:ext cx="11430000" cy="475488"/>
          </a:xfrm>
          <a:prstGeom prst="rect">
            <a:avLst>
              <a:gd name="adj" fmla="val 9615"/>
            </a:avLst>
          </a:prstGeom>
          <a:solidFill>
            <a:srgbClr val="1A2566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5669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</a:rPr>
              <a:t>Security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926080" y="56692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Security requirements reviewed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961120" y="5669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Signature: _______________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65760" y="6163056"/>
            <a:ext cx="11430000" cy="475488"/>
          </a:xfrm>
          <a:prstGeom prst="rect">
            <a:avLst>
              <a:gd name="adj" fmla="val 9615"/>
            </a:avLst>
          </a:prstGeom>
          <a:solidFill>
            <a:srgbClr val="1A2566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62362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</a:rPr>
              <a:t>QA Lead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926080" y="623620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Test plan will be based on this SRS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961120" y="62362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Signature: _______________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2026-03-15T06:53:13Z</dcterms:created>
  <dcterms:modified xsi:type="dcterms:W3CDTF">2026-03-15T06:53:13Z</dcterms:modified>
</cp:coreProperties>
</file>