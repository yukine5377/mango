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0"/>
            <a:ext cx="87782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194560" cy="475488"/>
          </a:xfrm>
          <a:prstGeom prst="rect">
            <a:avLst>
              <a:gd name="adj" fmla="val 15385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📄 BRD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Business Requirements Document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[Tên Sản Phẩm]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Cơ hội thị trường · Tầm nhìn sản phẩm · Business Goals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Prepared for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BOD / CEO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Author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032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[PO Name]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344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[Date]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Version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6656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v1.0 Draft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📋  Mục Lục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BRD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9436" cy="868680"/>
          </a:xfrm>
          <a:prstGeom prst="rect">
            <a:avLst>
              <a:gd name="adj" fmla="val 92308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87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987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Tóm tắt cơ hội và giải pháp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55080" y="91440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914400"/>
            <a:ext cx="59436" cy="868680"/>
          </a:xfrm>
          <a:prstGeom prst="rect">
            <a:avLst>
              <a:gd name="adj" fmla="val 92308"/>
            </a:avLst>
          </a:prstGeom>
          <a:solidFill>
            <a:srgbClr val="4FC3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987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987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Vấn đề thị trường &amp; cost of inaction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901952"/>
            <a:ext cx="59436" cy="868680"/>
          </a:xfrm>
          <a:prstGeom prst="rect">
            <a:avLst>
              <a:gd name="adj" fmla="val 92308"/>
            </a:avLst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9751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1975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Business Goals &amp; OKRs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Mục tiêu kinh doanh đo được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55080" y="1901952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1901952"/>
            <a:ext cx="59436" cy="868680"/>
          </a:xfrm>
          <a:prstGeom prst="rect">
            <a:avLst>
              <a:gd name="adj" fmla="val 92308"/>
            </a:avLst>
          </a:prstGeom>
          <a:solidFill>
            <a:srgbClr val="4FC3F7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9751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1975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Market Analysis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TAM/SAM/SOM · Trends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889504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889504"/>
            <a:ext cx="59436" cy="868680"/>
          </a:xfrm>
          <a:prstGeom prst="rect">
            <a:avLst>
              <a:gd name="adj" fmla="val 92308"/>
            </a:avLst>
          </a:prstGeom>
          <a:solidFill>
            <a:srgbClr val="4FC3F7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9626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Competitive Landscape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3273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Analysis đối thủ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55080" y="2889504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2889504"/>
            <a:ext cx="59436" cy="868680"/>
          </a:xfrm>
          <a:prstGeom prst="rect">
            <a:avLst>
              <a:gd name="adj" fmla="val 92308"/>
            </a:avLst>
          </a:prstGeom>
          <a:solidFill>
            <a:srgbClr val="4FC3F7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29626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Product Vision &amp; Scope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3273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Tầm nhìn, in/out scope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877056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877056"/>
            <a:ext cx="59436" cy="868680"/>
          </a:xfrm>
          <a:prstGeom prst="rect">
            <a:avLst>
              <a:gd name="adj" fmla="val 92308"/>
            </a:avLst>
          </a:prstGeom>
          <a:solidFill>
            <a:srgbClr val="4FC3F7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9502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4300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Stakeholder Analysis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261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Mapping stakeholders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55080" y="3877056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55080" y="3877056"/>
            <a:ext cx="59436" cy="868680"/>
          </a:xfrm>
          <a:prstGeom prst="rect">
            <a:avLst>
              <a:gd name="adj" fmla="val 92308"/>
            </a:avLst>
          </a:prstGeom>
          <a:solidFill>
            <a:srgbClr val="4FC3F7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39502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3232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Requirements (MoSCoW)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32320" y="4261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Business requirements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864608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864608"/>
            <a:ext cx="59436" cy="868680"/>
          </a:xfrm>
          <a:prstGeom prst="rect">
            <a:avLst>
              <a:gd name="adj" fmla="val 92308"/>
            </a:avLst>
          </a:prstGeom>
          <a:solidFill>
            <a:srgbClr val="4FC3F7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4937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4300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Assumptions &amp; Risks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43000" y="5248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Giả định và rủi ro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55080" y="4864608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55080" y="4864608"/>
            <a:ext cx="59436" cy="868680"/>
          </a:xfrm>
          <a:prstGeom prst="rect">
            <a:avLst>
              <a:gd name="adj" fmla="val 92308"/>
            </a:avLst>
          </a:prstGeom>
          <a:solidFill>
            <a:srgbClr val="4FC3F7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4937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13232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Financial Overview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32320" y="5248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Investment, ROI, break-even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585216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5852160"/>
            <a:ext cx="59436" cy="868680"/>
          </a:xfrm>
          <a:prstGeom prst="rect">
            <a:avLst>
              <a:gd name="adj" fmla="val 92308"/>
            </a:avLst>
          </a:prstGeom>
          <a:solidFill>
            <a:srgbClr val="4FC3F7"/>
          </a:solidFill>
          <a:ln/>
        </p:spPr>
      </p:sp>
      <p:sp>
        <p:nvSpPr>
          <p:cNvPr id="58" name="Text 56"/>
          <p:cNvSpPr/>
          <p:nvPr/>
        </p:nvSpPr>
        <p:spPr>
          <a:xfrm>
            <a:off x="502920" y="5925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11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43000" y="5925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Proposed Solution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143000" y="6236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High-level solution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55080" y="585216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355080" y="5852160"/>
            <a:ext cx="59436" cy="868680"/>
          </a:xfrm>
          <a:prstGeom prst="rect">
            <a:avLst>
              <a:gd name="adj" fmla="val 92308"/>
            </a:avLst>
          </a:prstGeom>
          <a:solidFill>
            <a:srgbClr val="4FC3F7"/>
          </a:solidFill>
          <a:ln/>
        </p:spPr>
      </p:sp>
      <p:sp>
        <p:nvSpPr>
          <p:cNvPr id="63" name="Text 61"/>
          <p:cNvSpPr/>
          <p:nvPr/>
        </p:nvSpPr>
        <p:spPr>
          <a:xfrm>
            <a:off x="6492240" y="5925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12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132320" y="5925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Next Steps &amp; Sign-off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132320" y="6236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Quyết định từ BOD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01  EXECUTIVE SUMMARY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749040" cy="2743200"/>
          </a:xfrm>
          <a:prstGeom prst="rect">
            <a:avLst>
              <a:gd name="adj" fmla="val 2667"/>
            </a:avLst>
          </a:prstGeom>
          <a:solidFill>
            <a:srgbClr val="253480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Cơ hội thị trường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[Quy mô thị trường, tăng trưởng, timing]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005840"/>
            <a:ext cx="3749040" cy="2743200"/>
          </a:xfrm>
          <a:prstGeom prst="rect">
            <a:avLst>
              <a:gd name="adj" fmla="val 2667"/>
            </a:avLst>
          </a:prstGeom>
          <a:solidFill>
            <a:srgbClr val="25348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1097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34840" y="1645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Giải pháp đề xuất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066544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[Sản phẩm làm gì, cho ai, khác biệt thế nào]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005840"/>
            <a:ext cx="3749040" cy="2743200"/>
          </a:xfrm>
          <a:prstGeom prst="rect">
            <a:avLst>
              <a:gd name="adj" fmla="val 2667"/>
            </a:avLst>
          </a:prstGeom>
          <a:solidFill>
            <a:srgbClr val="25348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1097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66760" y="1645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Expected Outcome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66760" y="2066544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[Doanh thu, users, market share kỳ vọng]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913632"/>
            <a:ext cx="11430000" cy="1234440"/>
          </a:xfrm>
          <a:prstGeom prst="rect">
            <a:avLst>
              <a:gd name="adj" fmla="val 5185"/>
            </a:avLst>
          </a:prstGeom>
          <a:solidFill>
            <a:srgbClr val="25348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86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✅  BOD DECISION NEEDED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297680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[Quyết định cần từ BOD — Go/No-go, Budget approval, Resource allocation]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02  ⚠️  BUSINESS PROBLEM STATEMENT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BRD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Vấn đề hiện tại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344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[Mô tả vấn đề — ai bị ảnh hưởng, scale, frequency]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048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Evidence &amp;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7157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[Số liệu xác nhận vấn đề tồn tại]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776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Cost of Inaction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087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[Nếu không giải quyết — doanh thu bỏ lỡ, competitive risk]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50749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50749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480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Root Cause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54589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[5 Whys analysis]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03  🎯  BUSINESS GOALS &amp; OKRS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BRD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Objective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344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[Mục tiêu cấp cao của dự án]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048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KR1 — Growth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7157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[Đạt X MAU trong Q...]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776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KR2 — Revenue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087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[GMV / ARR đạt $X]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50749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50749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480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KR3 — Quality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54589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[NPS &gt; X | Error rate &lt; X%]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04  📊  MARKET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BRD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344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[$XB — Source, Year]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048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7157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[$XM — Phân khúc target cụ thể]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776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SOM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087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[$XM — Realistic capture Year 1-2]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50749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50749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480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Key Trends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54589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[Top 3 xu hướng ủng hộ sản phẩm]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05  🆚  COMPETITIVE LANDSCAPE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BRD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Direct Competitors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344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[A, B, C — điểm mạnh/yếu]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048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Indirect Competitors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7157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[X, Y — thay thế gián tiếp]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776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Our Differentiation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087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[Điều chúng ta làm khác/tốt hơn]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50749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50749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480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Strategic Gap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54589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[Blue ocean opportunity]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06  🔭  PRODUCT VISION &amp;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BRD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Vision Statement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344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For [target], [Product] is [category] that [benefit]. Unlike [competitor], we [differentiator].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048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In Scope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7157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[Features A, B, C — lần này làm]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776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Out of Scope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087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[X, Y — explicitly không làm lần này]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50749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50749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480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Future Phases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54589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[Giai đoạn 2, 3 — long-term vision]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07  👥  STAKEHOLDER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BRD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BOD / CEO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344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Interest: ROI, Strategy | Influence: High | Cần: Financials, decision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048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Engineering Lead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7157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Interest: Feasibility | Influence: High | Cần: SRS, timeline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776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Design Lead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087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Interest: UX quality | Influence: Med | Cần: PRD, research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50749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50749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480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Sales / Marketing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54589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Interest: GTM | Influence: Med | Cần: Roadmap, positioning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08  📝  HIGH-LEVEL REQUIREMENTS (MOSCOW)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BRD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Must Have (M)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344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[Requirements tuyệt đối cần — không có không launch]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048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Should Have (S)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7157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[Quan trọng nhưng có thể workaround]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776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Could Have (C)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087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[Nice to have — không ảnh hưởng core value]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50749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50749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480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Won't Have (this phase)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54589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[Explicitly excluded — manage expectations]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09  ⚡  ASSUMPTIONS &amp; RISK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BRD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Business Assumptions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344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[Giả định về user behavior, market, willingness to pay]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048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Technical Assumptions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7157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[Giả định về feasibility, third-party availability]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776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Risk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087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[Mô tả risk] | Prob: High | Impact: High | Mitigation: [action]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50749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50749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480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Risk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54589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[Mô tả risk] | Prob: Med | Impact: Med | Mitigation: [action]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10  💰  FINANCIAL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BRD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Investment Required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344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[Capex + Opex — nhân lực, cloud, tools, marketing]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048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Revenue Projection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7157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Year 1: $X | Year 2: $X | Year 3: $X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776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Break-even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087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Tháng thứ X kể từ launch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50749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50749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480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ROI Estimate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54589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X% trong Y tháng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11  💡  PROPOSED SOLUTION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BRD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Product Concept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344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[Mô tả high-level sản phẩm đề xuất]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048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Key Capabilities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7157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[3–5 capabilities core phải có trong MVP]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776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Tech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087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[Stack sơ bộ, delivery model — App/Web/API]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5074920"/>
            <a:ext cx="11430000" cy="1207008"/>
          </a:xfrm>
          <a:prstGeom prst="rect">
            <a:avLst>
              <a:gd name="adj" fmla="val 5303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5074920"/>
            <a:ext cx="59436" cy="120700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480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Go-to-Market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54589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[Kênh, target segment đầu tiên, launch strategy]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12  🔗  DEPENDENCIES &amp; CONSTRAINTS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BRD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760720" cy="2331720"/>
          </a:xfrm>
          <a:prstGeom prst="rect">
            <a:avLst>
              <a:gd name="adj" fmla="val 274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760720" cy="621792"/>
          </a:xfrm>
          <a:prstGeom prst="rect">
            <a:avLst>
              <a:gd name="adj" fmla="val 10294"/>
            </a:avLst>
          </a:prstGeom>
          <a:solidFill>
            <a:srgbClr val="3D0000"/>
          </a:solidFill>
          <a:ln w="12700">
            <a:solidFill>
              <a:srgbClr val="3D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Internal Dependencies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[Team readiness, existing systems, data migrations]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960120"/>
            <a:ext cx="5760720" cy="2331720"/>
          </a:xfrm>
          <a:prstGeom prst="rect">
            <a:avLst>
              <a:gd name="adj" fmla="val 274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960120"/>
            <a:ext cx="5760720" cy="621792"/>
          </a:xfrm>
          <a:prstGeom prst="rect">
            <a:avLst>
              <a:gd name="adj" fmla="val 10294"/>
            </a:avLst>
          </a:prstGeom>
          <a:solidFill>
            <a:srgbClr val="0D3D00"/>
          </a:solidFill>
          <a:ln w="12700">
            <a:solidFill>
              <a:srgbClr val="0D3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0332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External Dependencies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673352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[Third-party APIs, legal approvals, partner contracts]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5760720" cy="2331720"/>
          </a:xfrm>
          <a:prstGeom prst="rect">
            <a:avLst>
              <a:gd name="adj" fmla="val 274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5760720" cy="621792"/>
          </a:xfrm>
          <a:prstGeom prst="rect">
            <a:avLst>
              <a:gd name="adj" fmla="val 10294"/>
            </a:avLst>
          </a:prstGeom>
          <a:solidFill>
            <a:srgbClr val="1A1A4D"/>
          </a:solidFill>
          <a:ln w="12700">
            <a:solidFill>
              <a:srgbClr val="1A1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478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Budget Constraints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187952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[Approved budget ceiling, headcount freeze, vendor limits]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3474720"/>
            <a:ext cx="5760720" cy="2331720"/>
          </a:xfrm>
          <a:prstGeom prst="rect">
            <a:avLst>
              <a:gd name="adj" fmla="val 274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474720"/>
            <a:ext cx="5760720" cy="621792"/>
          </a:xfrm>
          <a:prstGeom prst="rect">
            <a:avLst>
              <a:gd name="adj" fmla="val 10294"/>
            </a:avLst>
          </a:prstGeom>
          <a:solidFill>
            <a:srgbClr val="4D3000"/>
          </a:solidFill>
          <a:ln w="12700">
            <a:solidFill>
              <a:srgbClr val="4D3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5478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Timeline Constraints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187952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[Hard deadlines, market windows, regulatory dates]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13  NEXT STEPS &amp; APPROVAL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430000" cy="841248"/>
          </a:xfrm>
          <a:prstGeom prst="rect">
            <a:avLst>
              <a:gd name="adj" fmla="val 6522"/>
            </a:avLst>
          </a:prstGeom>
          <a:solidFill>
            <a:srgbClr val="25348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69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Tuần 1–2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051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BOD Review &amp; Go/No-go decision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235440" y="1088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Owner: BOD + CPO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11430000" cy="841248"/>
          </a:xfrm>
          <a:prstGeom prst="rect">
            <a:avLst>
              <a:gd name="adj" fmla="val 6522"/>
            </a:avLst>
          </a:prstGeom>
          <a:solidFill>
            <a:srgbClr val="25348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75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Tuần 3–4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2057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Kick-off User Research &amp; Product Discovery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235440" y="20939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Owner: PO + Designer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11430000" cy="841248"/>
          </a:xfrm>
          <a:prstGeom prst="rect">
            <a:avLst>
              <a:gd name="adj" fmla="val 6522"/>
            </a:avLst>
          </a:prstGeom>
          <a:solidFill>
            <a:srgbClr val="25348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815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Tuần 5–6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063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Viết PRD chi tiết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35440" y="3099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Owner: PO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11430000" cy="841248"/>
          </a:xfrm>
          <a:prstGeom prst="rect">
            <a:avLst>
              <a:gd name="adj" fmla="val 6522"/>
            </a:avLst>
          </a:prstGeom>
          <a:solidFill>
            <a:srgbClr val="25348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87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Tuần 7–8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4069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Tech scoping &amp; team formation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35440" y="4105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Owner: Tech Lead + HR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983480"/>
            <a:ext cx="11430000" cy="841248"/>
          </a:xfrm>
          <a:prstGeom prst="rect">
            <a:avLst>
              <a:gd name="adj" fmla="val 6522"/>
            </a:avLst>
          </a:prstGeom>
          <a:solidFill>
            <a:srgbClr val="25348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0932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Tuần 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5074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Sprint 1 Kick-off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35440" y="5111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Owner: Toàn team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6035040"/>
            <a:ext cx="11430000" cy="548640"/>
          </a:xfrm>
          <a:prstGeom prst="rect">
            <a:avLst>
              <a:gd name="adj" fmla="val 10000"/>
            </a:avLst>
          </a:prstGeom>
          <a:solidFill>
            <a:srgbClr val="3D10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08076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SIGN-OFF  ·  BOD: _____________  ·  CPO: _____________  ·  Date: _____________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2026-03-15T06:53:12Z</dcterms:created>
  <dcterms:modified xsi:type="dcterms:W3CDTF">2026-03-15T06:53:12Z</dcterms:modified>
</cp:coreProperties>
</file>