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0"/>
            <a:ext cx="2221992" cy="6858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303520"/>
            <a:ext cx="87782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48640"/>
            <a:ext cx="1920240" cy="475488"/>
          </a:xfrm>
          <a:prstGeom prst="rect">
            <a:avLst>
              <a:gd name="adj" fmla="val 15385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486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⚡ COMMIZ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Market Research Report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Commission Marketplace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for Vietnam &amp; Southeast Asia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Phân tích thị trường · Landscape cạnh tranh · Cơ hội &amp; Rủi ro · Pháp lý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532120"/>
            <a:ext cx="1920240" cy="868680"/>
          </a:xfrm>
          <a:prstGeom prst="rect">
            <a:avLst>
              <a:gd name="adj" fmla="val 6316"/>
            </a:avLst>
          </a:prstGeom>
          <a:solidFill>
            <a:srgbClr val="283593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532120"/>
            <a:ext cx="1920240" cy="411480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Prepared for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Investors &amp; Dev Team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5532120"/>
            <a:ext cx="1920240" cy="868680"/>
          </a:xfrm>
          <a:prstGeom prst="rect">
            <a:avLst>
              <a:gd name="adj" fmla="val 6316"/>
            </a:avLst>
          </a:prstGeom>
          <a:solidFill>
            <a:srgbClr val="283593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5532120"/>
            <a:ext cx="1920240" cy="411480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Date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60320" y="5943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March 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5532120"/>
            <a:ext cx="1920240" cy="868680"/>
          </a:xfrm>
          <a:prstGeom prst="rect">
            <a:avLst>
              <a:gd name="adj" fmla="val 6316"/>
            </a:avLst>
          </a:prstGeom>
          <a:solidFill>
            <a:srgbClr val="283593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5532120"/>
            <a:ext cx="1920240" cy="411480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Version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3440" y="5943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v1.0 — Internal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5532120"/>
            <a:ext cx="1920240" cy="868680"/>
          </a:xfrm>
          <a:prstGeom prst="rect">
            <a:avLst>
              <a:gd name="adj" fmla="val 6316"/>
            </a:avLst>
          </a:prstGeom>
          <a:solidFill>
            <a:srgbClr val="283593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5532120"/>
            <a:ext cx="1920240" cy="411480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Scope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0" y="5943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Vietnam, Southeast Asia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📋  Table of Contents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COMMIZ — MARKET RESEARCH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669280" cy="1463040"/>
          </a:xfrm>
          <a:prstGeom prst="rect">
            <a:avLst>
              <a:gd name="adj" fmla="val 437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59436" cy="146304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515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0698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Executive Summary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4904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 key insights + top recommendation cho Commiz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960120"/>
            <a:ext cx="5669280" cy="1463040"/>
          </a:xfrm>
          <a:prstGeom prst="rect">
            <a:avLst>
              <a:gd name="adj" fmla="val 437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960120"/>
            <a:ext cx="59436" cy="146304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10515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23760" y="10698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Market Overview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14904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TAM/SAM/SOM · Key trends · PESTLE highlights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5669280" cy="1463040"/>
          </a:xfrm>
          <a:prstGeom prst="rect">
            <a:avLst>
              <a:gd name="adj" fmla="val 437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51760"/>
            <a:ext cx="59436" cy="146304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743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27614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User Personas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1821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 persona cards với goals, pains, JTBD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2651760"/>
            <a:ext cx="5669280" cy="1463040"/>
          </a:xfrm>
          <a:prstGeom prst="rect">
            <a:avLst>
              <a:gd name="adj" fmla="val 437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2651760"/>
            <a:ext cx="59436" cy="146304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3" name="Text 21"/>
          <p:cNvSpPr/>
          <p:nvPr/>
        </p:nvSpPr>
        <p:spPr>
          <a:xfrm>
            <a:off x="6473952" y="2743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23760" y="27614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JTBD &amp; Key Insights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23760" y="31821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Jobs-to-be-done + 6 findings từ desk research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5669280" cy="1463040"/>
          </a:xfrm>
          <a:prstGeom prst="rect">
            <a:avLst>
              <a:gd name="adj" fmla="val 437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343400"/>
            <a:ext cx="59436" cy="146304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44348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371600" y="44531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Competitive Landscape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71600" y="48737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Competitor canvas · Matrix · Strategic gaps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4343400"/>
            <a:ext cx="5669280" cy="1463040"/>
          </a:xfrm>
          <a:prstGeom prst="rect">
            <a:avLst>
              <a:gd name="adj" fmla="val 437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4343400"/>
            <a:ext cx="59436" cy="146304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33" name="Text 31"/>
          <p:cNvSpPr/>
          <p:nvPr/>
        </p:nvSpPr>
        <p:spPr>
          <a:xfrm>
            <a:off x="6473952" y="44348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223760" y="44531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Opportunities &amp; Next Steps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23760" y="48737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ICE scores · Roadmap gợi ý · Rủi ro pháp lý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03  EXECUTIVE SUMMARY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749040" cy="3200400"/>
          </a:xfrm>
          <a:prstGeom prst="rect">
            <a:avLst>
              <a:gd name="adj" fmla="val 2286"/>
            </a:avLst>
          </a:prstGeom>
          <a:solidFill>
            <a:srgbClr val="253480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Thị trường SEA bùng nổ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Gig economy SEA đạt $8.9B năm 2024, CAGR 20.2%. Vietnam có 7M+ gig workers — tăng mạnh hậu COVID.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005840"/>
            <a:ext cx="3749040" cy="3200400"/>
          </a:xfrm>
          <a:prstGeom prst="rect">
            <a:avLst>
              <a:gd name="adj" fmla="val 2286"/>
            </a:avLst>
          </a:prstGeom>
          <a:solidFill>
            <a:srgbClr val="25348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0" y="11430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80560" y="1783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Hành vi số sẵn sàng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3317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77% urban user VN 18–45 tuổi dùng mobile payment hàng tháng. 50M e-wallets active năm 2024. Nền tảng hành vi phù hợp với Commiz.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005840"/>
            <a:ext cx="3749040" cy="3200400"/>
          </a:xfrm>
          <a:prstGeom prst="rect">
            <a:avLst>
              <a:gd name="adj" fmla="val 2286"/>
            </a:avLst>
          </a:prstGeom>
          <a:solidFill>
            <a:srgbClr val="25348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11430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🔓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12480" y="1783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Market gap rõ ràng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23317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Chưa có nền tảng nào tại VN cho phép tạo micro-commission linh hoạt (không chỉ home services). Commiz có cơ hội định nghĩa category.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434840"/>
            <a:ext cx="11430000" cy="1005840"/>
          </a:xfrm>
          <a:prstGeom prst="rect">
            <a:avLst>
              <a:gd name="adj" fmla="val 6364"/>
            </a:avLst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✅  TOP RECOMMENDATION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7548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Ra mắt tại TP.HCM &amp; Hà Nội trước, tập trung micro-commission use-case (mua hộ, làm hộ, giao hộ) để build GMV nhanh. Xin giấy phép Intermediary Payment Service (Decree 52/2024) ngay từ đầu.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02  MARKET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COMMIZ — MARKET RESEARCH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474720" cy="2468880"/>
          </a:xfrm>
          <a:prstGeom prst="rect">
            <a:avLst>
              <a:gd name="adj" fmla="val 296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515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TAM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SEA Gig Economy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</a:rPr>
              <a:t>$8.9B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2024, CAGR 20.2%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960120"/>
            <a:ext cx="3474720" cy="2468880"/>
          </a:xfrm>
          <a:prstGeom prst="rect">
            <a:avLst>
              <a:gd name="adj" fmla="val 2963"/>
            </a:avLst>
          </a:prstGeom>
          <a:solidFill>
            <a:srgbClr val="2855A0"/>
          </a:solidFill>
          <a:ln w="12700">
            <a:solidFill>
              <a:srgbClr val="285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0" y="10515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SAM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114800" y="1627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VN + ASEAN Task Platforms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0" y="199339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</a:rPr>
              <a:t>$389M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25196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Freelance platform segment, CAGR 23.8%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63840" y="960120"/>
            <a:ext cx="3474720" cy="2468880"/>
          </a:xfrm>
          <a:prstGeom prst="rect">
            <a:avLst>
              <a:gd name="adj" fmla="val 2963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0" y="10515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863840" y="1627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VN Addressable (Year 3)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863840" y="199339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</a:rPr>
              <a:t>$15–25M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00100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~1M users @ $15–25 avg GMV/user/yr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2697480" cy="1371600"/>
          </a:xfrm>
          <a:prstGeom prst="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67588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7M+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65760" y="427939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Gig workers VN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(Sep 2023)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3611880"/>
            <a:ext cx="2697480" cy="1371600"/>
          </a:xfrm>
          <a:prstGeom prst="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0" y="367588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50M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200400" y="427939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E-wallets active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(end 2024)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3611880"/>
            <a:ext cx="2697480" cy="1371600"/>
          </a:xfrm>
          <a:prstGeom prst="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35040" y="367588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77%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035040" y="427939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Urban user dùng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mobile payment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869680" y="3611880"/>
            <a:ext cx="2697480" cy="1371600"/>
          </a:xfrm>
          <a:prstGeom prst="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869680" y="367588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100M+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869680" y="427939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Smartphone users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VN (2024)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5120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KEY TRENDS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53949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📈 Gig economy SEA tăng &gt;30%/năm, driven by Gen Z &amp; Millennial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577900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💳 CAGR mobile payment VN vượt 100%/5 năm liên tiếp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53949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🏛️ Regulatory sandbox fintech VN mở rộng 2025 (Decree 94/2025)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09360" y="577900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🌐 Digital economy VN → $39B năm 2025, mục tiêu 20% GDP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03  USER PERSONAS  —  Dựa trên Desk Research &amp; Behavioral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COMMIZ — MARKET RESEARCH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760720" cy="5623560"/>
          </a:xfrm>
          <a:prstGeom prst="rect">
            <a:avLst>
              <a:gd name="adj" fmla="val 1138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59436" cy="562356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914400"/>
            <a:ext cx="5760720" cy="960120"/>
          </a:xfrm>
          <a:prstGeom prst="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875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Minh — Người tạo Commission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Sinh viên / Nhân viên văn phòng trẻ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20–30 tuổi · TP.HCM / Hà Nội · Thu nhập 8–15M/tháng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🎯  Goals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Hoàn thành việc nhỏ mà không cần bỏ lỡ công việc đang làm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9077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Trả tiền nhanh, an toàn, không lo lừa đảo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23697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Tìm người tin cậy trong khu vực gần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60273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⚡  Pain Points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87705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Không có người tin tưởng để nhờ việc bất ngờ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Facebook/Zalo không có cơ chế payment an toàn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5354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Phải tự làm những việc mất thời gian, chi phí cơ hội cao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" y="5138928"/>
            <a:ext cx="5486400" cy="777240"/>
          </a:xfrm>
          <a:prstGeom prst="rect">
            <a:avLst>
              <a:gd name="adj" fmla="val 5882"/>
            </a:avLst>
          </a:prstGeom>
          <a:solidFill>
            <a:srgbClr val="F0F4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5175504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1E2761"/>
                </a:solidFill>
              </a:rPr>
              <a:t>"Mình chỉ cần ai đó mua giúp cốc trà sữa khi đang họp, nhưng không biết nhờ ai."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9360" y="914400"/>
            <a:ext cx="5760720" cy="5623560"/>
          </a:xfrm>
          <a:prstGeom prst="rect">
            <a:avLst>
              <a:gd name="adj" fmla="val 1138"/>
            </a:avLst>
          </a:prstGeom>
          <a:solidFill>
            <a:srgbClr val="FFFFFF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914400"/>
            <a:ext cx="59436" cy="562356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914400"/>
            <a:ext cx="5760720" cy="960120"/>
          </a:xfrm>
          <a:prstGeom prst="rect">
            <a:avLst>
              <a:gd name="adj" fmla="val 6667"/>
            </a:avLst>
          </a:prstGeom>
          <a:solidFill>
            <a:srgbClr val="2855A0"/>
          </a:solidFill>
          <a:ln w="12700">
            <a:solidFill>
              <a:srgbClr val="2855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9875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Hoa — Người nhận Commission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6520" y="13898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Freelancer / Sinh viên cần thêm thu nhập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4652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18–28 tuổi · Linh hoạt thời gian · Thu nhập bổ sung 3–8M/tháng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230428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55A0"/>
                </a:solidFill>
              </a:rPr>
              <a:t>🎯  Goals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257860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Kiếm thêm thu nhập theo giờ rảnh, không ràng buộc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37960" y="29077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Được đánh giá tốt để nhận nhiều commission hơn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37960" y="323697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Nhận tiền nhanh về tài khoản ngân hàng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46520" y="360273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⚡  Pain Points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387705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Không có nền tảng bảo vệ quyền lợi khi bị quỵt tiền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37960" y="42062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Nền tảng freelance hiện tại chỉ có việc dài hạn, không có micro-task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537960" y="45354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Khó chứng minh năng lực cho stranger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19088" y="5138928"/>
            <a:ext cx="5486400" cy="777240"/>
          </a:xfrm>
          <a:prstGeom prst="rect">
            <a:avLst>
              <a:gd name="adj" fmla="val 5882"/>
            </a:avLst>
          </a:prstGeom>
          <a:solidFill>
            <a:srgbClr val="F0F4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0528" y="5175504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1E2761"/>
                </a:solidFill>
              </a:rPr>
              <a:t>"Mình hay đi ngang qua BigC, nếu có app để nhận việc mua hộ lúc đó thì hay lắm."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04  JOBS-TO-BE-DONE &amp; KEY INSIGHTS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COMMIZ — MARKET RESEARCH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JOBS-TO-BE-DONE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1430000" cy="1188720"/>
          </a:xfrm>
          <a:prstGeom prst="rect">
            <a:avLst>
              <a:gd name="adj" fmla="val 538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59436" cy="118872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2618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When: Khi đang bận ở nơi khác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➤ I want to: Nhờ người thực hiện việc nhỏ ngay lập tức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181051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So I can: Không bị gián đoạn công việc chính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11430000" cy="1188720"/>
          </a:xfrm>
          <a:prstGeom prst="rect">
            <a:avLst>
              <a:gd name="adj" fmla="val 538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14600"/>
            <a:ext cx="59436" cy="118872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5877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When: Khi có thời gian rảnh gần địa điểm nào đó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28620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➤ I want to: Nhận commission để kiếm thêm thu nhập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31363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So I can: Tối ưu hóa thời gian và thu nhập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KEY INSIGHTS  (từ Desk Research)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251960"/>
            <a:ext cx="5669280" cy="621792"/>
          </a:xfrm>
          <a:prstGeom prst="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25196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📊  7M+ gig workers VN — supply side sẵn sàng, cần platform kết nối linh hoạt hơn bTaskee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4251960"/>
            <a:ext cx="5669280" cy="621792"/>
          </a:xfrm>
          <a:prstGeom prst="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425196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💰  Competitors thu 15–20% commission fee — Commiz có room để positioning giá thấp hơn để chiếm thị phần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983480"/>
            <a:ext cx="5669280" cy="621792"/>
          </a:xfrm>
          <a:prstGeom prst="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98348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⚖️  Pháp lý VN yêu cầu license IPS (50B VND vốn điều lệ) — cần hoạch định ngay từ đầu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09360" y="4983480"/>
            <a:ext cx="5669280" cy="621792"/>
          </a:xfrm>
          <a:prstGeom prst="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498348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📱  77% urban user 18–45 đã dùng mobile payment — adoption barrier thấp cho Commiz payment flow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05  COMPETITIVE LANDSCAPE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COMMIZ — MARKET RESEARCH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834640" cy="2606040"/>
          </a:xfrm>
          <a:prstGeom prst="rect">
            <a:avLst>
              <a:gd name="adj" fmla="val 2456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834640" cy="475488"/>
          </a:xfrm>
          <a:prstGeom prst="rect">
            <a:avLst>
              <a:gd name="adj" fmla="val 1153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144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🇻🇳 VN  bTaskee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4264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Type: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71600" y="14264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Direct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Model: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71600" y="17830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Home services marketplace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396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Fee: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371600" y="213969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~20% commission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4963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UX: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71600" y="24963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Mobile-first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8529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Gap vs Commiz: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71600" y="28529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Chỉ home services, không phải micro-task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64408" y="914400"/>
            <a:ext cx="2834640" cy="2606040"/>
          </a:xfrm>
          <a:prstGeom prst="rect">
            <a:avLst>
              <a:gd name="adj" fmla="val 245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914400"/>
            <a:ext cx="2834640" cy="475488"/>
          </a:xfrm>
          <a:prstGeom prst="rect">
            <a:avLst>
              <a:gd name="adj" fmla="val 1153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9144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🇲🇾 MY  GoGet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14264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Type: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15968" y="14264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Direct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55848" y="1783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Model: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15968" y="17830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On-demand workforce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55848" y="21396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Fee: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15968" y="213969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15% access fee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55848" y="24963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UX: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315968" y="24963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B2C + B2B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55848" y="28529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Gap vs Commiz: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315968" y="28529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Chưa có mặt ở VN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08776" y="914400"/>
            <a:ext cx="2834640" cy="2606040"/>
          </a:xfrm>
          <a:prstGeom prst="rect">
            <a:avLst>
              <a:gd name="adj" fmla="val 2456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08776" y="914400"/>
            <a:ext cx="2834640" cy="475488"/>
          </a:xfrm>
          <a:prstGeom prst="rect">
            <a:avLst>
              <a:gd name="adj" fmla="val 1153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0216" y="9144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🇵🇭 PH  mykuya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0216" y="14264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Type: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260336" y="14264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Direct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00216" y="1783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Model: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260336" y="17830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Errand &amp; personal assist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00216" y="21396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Fee: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260336" y="213969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8.9–20%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300216" y="24963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UX: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260336" y="24963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Mobile-first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300216" y="28529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Gap vs Commiz: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260336" y="28529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Chỉ Philippines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153144" y="914400"/>
            <a:ext cx="2834640" cy="2606040"/>
          </a:xfrm>
          <a:prstGeom prst="rect">
            <a:avLst>
              <a:gd name="adj" fmla="val 2456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153144" y="914400"/>
            <a:ext cx="2834640" cy="475488"/>
          </a:xfrm>
          <a:prstGeom prst="rect">
            <a:avLst>
              <a:gd name="adj" fmla="val 1153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44584" y="9144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🇸🇬 SEA  Grab/Gojek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244584" y="14264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Type: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204704" y="14264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Indirect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9244584" y="1783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Model: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204704" y="17830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Super app (delivery, rides)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244584" y="21396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Fee: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0204704" y="213969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Delivery fee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244584" y="24963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UX: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0204704" y="24963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Super app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244584" y="28529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Gap vs Commiz: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0204704" y="28529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Không làm custom task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20040" y="36393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COMPETITIVE MATRIX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977640"/>
          <a:ext cx="11521440" cy="25146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194560"/>
                <a:gridCol w="219456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Tiêu chí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COMMIZ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bTaskee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GoGet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mykuya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Micro-task (mua hộ)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⚠️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⚠️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Market VN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Commission fee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</a:rPr>
                        <a:t>TBD (&lt; 15%)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~20%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15%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8.9–20%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Escrow payment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✅ Plan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⚠️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Any category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 Home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⚠️ Partial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⚠️ Partial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05  OPPORTUNITY PRIORITIZATION  —  ICE Score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COMMIZ — MARKET RESEARCH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ICE = (Impact × Confidence × Ease) / 3  —  thang điểm 1–10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11521440" cy="5349240"/>
        </p:xfrm>
        <a:graphic>
          <a:graphicData uri="http://schemas.openxmlformats.org/drawingml/2006/table">
            <a:tbl>
              <a:tblPr/>
              <a:tblGrid>
                <a:gridCol w="4754880"/>
                <a:gridCol w="1097280"/>
                <a:gridCol w="1371600"/>
                <a:gridCol w="1097280"/>
                <a:gridCol w="13716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Confidence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Ease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ICE Score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Micro-task marketplace VN (mua hộ, giao hộ, làm hộ)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</a:rPr>
                        <a:t>8.0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🔴 P0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Escrow payment + rút tiền ngân hàng cho tasker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</a:rPr>
                        <a:t>8.0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🔴 P0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Rating &amp; Trust system cho tasker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</a:rPr>
                        <a:t>7.7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🔴 P0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Expand sang Hà Nội sau TP.HCM (giai đoạn 2)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</a:rPr>
                        <a:t>7.3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🟠 P1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B2B: Doanh nghiệp thuê tasker theo giờ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</a:rPr>
                        <a:t>6.0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🟠 P1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Expand SEA (Thailand, Philippines)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</a:rPr>
                        <a:t>6.0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🟡 P2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AI matching tasker–commissioner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</a:rPr>
                        <a:t>5.3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🟡 P2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06  KEY FINDINGS &amp; RECOMMENDATIONS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430000" cy="1719072"/>
          </a:xfrm>
          <a:prstGeom prst="rect">
            <a:avLst>
              <a:gd name="adj" fmla="val 3723"/>
            </a:avLst>
          </a:prstGeom>
          <a:solidFill>
            <a:srgbClr val="25348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4864" cy="1719072"/>
          </a:xfrm>
          <a:prstGeom prst="rect">
            <a:avLst>
              <a:gd name="adj" fmla="val 116667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INSIGHT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28930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Thị trường VN chưa có micro-task platform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0" y="1051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EVIDENCE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83280" y="128930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bTaskee chỉ home services. Grab/Gojek chỉ delivery. Không ai làm 'mua hộ tự do'.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92240" y="1051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92240" y="128930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First-mover advantage rất lớn nếu ra mắt đúng thời điểm.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1488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→ REC: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21488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0B981"/>
                </a:solidFill>
              </a:rPr>
              <a:t>Build MVP tập trung micro-task category, không cố gắng làm tất cả.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11430000" cy="1719072"/>
          </a:xfrm>
          <a:prstGeom prst="rect">
            <a:avLst>
              <a:gd name="adj" fmla="val 3723"/>
            </a:avLst>
          </a:prstGeom>
          <a:solidFill>
            <a:srgbClr val="25348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34640"/>
            <a:ext cx="54864" cy="1719072"/>
          </a:xfrm>
          <a:prstGeom prst="rect">
            <a:avLst>
              <a:gd name="adj" fmla="val 11666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26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INSIGHT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316382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Payment &amp; Trust là barrier lớn nhất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0" y="2926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EVIDENCE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316382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Lý do Facebook/Zalo không scale: không có escrow, dễ bị quỵt tiền.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0" y="2926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92240" y="316382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Commiz phải solve payment trust trước khi scale user.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0233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→ REC: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80160" y="40233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</a:rPr>
              <a:t>Integrate ví điện tử (MoMo/ZaloPay) + giữ tiền escrow, release khi tasker hoàn thành.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709160"/>
            <a:ext cx="11430000" cy="1719072"/>
          </a:xfrm>
          <a:prstGeom prst="rect">
            <a:avLst>
              <a:gd name="adj" fmla="val 3723"/>
            </a:avLst>
          </a:prstGeom>
          <a:solidFill>
            <a:srgbClr val="253480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709160"/>
            <a:ext cx="54864" cy="1719072"/>
          </a:xfrm>
          <a:prstGeom prst="rect">
            <a:avLst>
              <a:gd name="adj" fmla="val 116667"/>
            </a:avLst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800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INSIGHT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" y="503834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Pháp lý là risk lớn nhất nếu bỏ qua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83280" y="4800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EVIDENCE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83280" y="503834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Decree 52/2024 yêu cầu 50B VND vốn &amp; license IPS. Decree 117/2025 yêu cầu khấu trừ thuế.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4800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92240" y="503834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Ra mắt không phép → risk bị shutdown. Phải xử lý từ đầu.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58978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→ REC: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80160" y="58978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F4444"/>
                </a:solidFill>
              </a:rPr>
              <a:t>Hợp tác ngay với ví điện tử có sẵn license (MoMo, ZaloPay) thay vì tự xin phép.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07  NEXT STEPS  —  Roadmap 12 Tuần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840480" cy="5303520"/>
          </a:xfrm>
          <a:prstGeom prst="rect">
            <a:avLst>
              <a:gd name="adj" fmla="val 1905"/>
            </a:avLst>
          </a:prstGeom>
          <a:solidFill>
            <a:srgbClr val="1A2566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3840480" cy="868680"/>
          </a:xfrm>
          <a:prstGeom prst="rect">
            <a:avLst>
              <a:gd name="adj" fmla="val 8421"/>
            </a:avLst>
          </a:prstGeom>
          <a:solidFill>
            <a:srgbClr val="1E3855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92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Phase 1  ·  Tuần 1–4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435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Foundation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Owner: Founder + Legal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157984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1.  Hoàn thiện Product Brief &amp; Tech Spec cho MVP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026664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2.  Tư vấn pháp lý: cấu trúc công ty &amp; lộ trình license IPS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895344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3.  Đàm phán partnership với MoMo hoặc ZaloPay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4764024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4.  Kickoff thiết kế UI/UX — user flow chính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7680" y="914400"/>
            <a:ext cx="3840480" cy="5303520"/>
          </a:xfrm>
          <a:prstGeom prst="rect">
            <a:avLst>
              <a:gd name="adj" fmla="val 1905"/>
            </a:avLst>
          </a:prstGeom>
          <a:solidFill>
            <a:srgbClr val="1A2566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914400"/>
            <a:ext cx="3840480" cy="868680"/>
          </a:xfrm>
          <a:prstGeom prst="rect">
            <a:avLst>
              <a:gd name="adj" fmla="val 8421"/>
            </a:avLst>
          </a:prstGeom>
          <a:solidFill>
            <a:srgbClr val="1E385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9692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Phase 2  ·  Tuần 5–8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12435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MVP Build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3484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Owner: Dev Team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2157984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1.  Build app mobile (React Native / Flutter) — 2 role: commissioner &amp; tasker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0560" y="3026664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2.  Integrate payment escrow với ví điện tử partner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80560" y="3895344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3.  Rating &amp; trust system cơ bản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80560" y="4764024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4.  Internal testing với 50 beta users tại TP.HCM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75320" y="914400"/>
            <a:ext cx="3840480" cy="5303520"/>
          </a:xfrm>
          <a:prstGeom prst="rect">
            <a:avLst>
              <a:gd name="adj" fmla="val 1905"/>
            </a:avLst>
          </a:prstGeom>
          <a:solidFill>
            <a:srgbClr val="1A2566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75320" y="914400"/>
            <a:ext cx="3840480" cy="868680"/>
          </a:xfrm>
          <a:prstGeom prst="rect">
            <a:avLst>
              <a:gd name="adj" fmla="val 8421"/>
            </a:avLst>
          </a:prstGeom>
          <a:solidFill>
            <a:srgbClr val="1E38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9692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Phase 3  ·  Tuần 9–12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12435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Soft Launch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Owner: Founder + Growth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58200" y="2157984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1.  Soft launch TP.HCM — target 500 active users đầu tiên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458200" y="3026664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2.  Chạy growth hack: referral program, social seeding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58200" y="3895344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3.  Thu thập feedback thực tế → iterate product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458200" y="4764024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4.  Chuẩn bị deck fundraising với data traction thực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6309360"/>
            <a:ext cx="11521440" cy="365760"/>
          </a:xfrm>
          <a:prstGeom prst="rect">
            <a:avLst>
              <a:gd name="adj" fmla="val 12500"/>
            </a:avLst>
          </a:prstGeom>
          <a:solidFill>
            <a:srgbClr val="3D101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327648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⚠️  Legal Priority: Cần tư vấn pháp lý về Decree 52/2024 (IPS License) &amp; Decree 117/2025 (Tax withholding) trước khi nhận thanh toán thực từ user.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2026-03-15T04:17:08Z</dcterms:created>
  <dcterms:modified xsi:type="dcterms:W3CDTF">2026-03-15T04:17:08Z</dcterms:modified>
</cp:coreProperties>
</file>